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1D731-E3DA-E77F-8430-DAB6E6B9A8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16B744-B03A-EF8D-FE92-0BAAE14EC2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CF01E7-27EE-C994-7142-01773C6E5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F9570-443C-4056-8DBB-D859DE6AE90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F69792-8644-D5C7-6B88-9AFAF93BF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45BE7-EE26-E5A2-F54A-994D9361E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12F91-0DA4-4BD4-AFB2-0A43ED368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252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65872-B81D-F40B-8FB5-11ABFC5C5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CA598-B890-AE26-8E1C-25EA3D0387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0E9944-3F4A-5603-AA92-755E8A362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F9570-443C-4056-8DBB-D859DE6AE90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671B21-F28E-F380-7B44-33525713F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F37D0B-FAF5-7788-DF5C-9845A7D76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12F91-0DA4-4BD4-AFB2-0A43ED368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739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67138-1C93-7127-DF3D-6E7A423E0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1DDC01-BB73-EDC0-CA93-0D6FD4DE62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D4FDFB-BD77-14DD-D920-4D715CC25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F9570-443C-4056-8DBB-D859DE6AE90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B2BD81-FA10-634F-C258-443624A69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73DD0B-9C02-1F51-2BA8-AE289D352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12F91-0DA4-4BD4-AFB2-0A43ED368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90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38712-EDC9-7EC7-9E96-CFEE36C29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D6928-7564-E451-079A-D12B362CB3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6E979E-C063-53C5-C804-BB6ADFAFB1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281266-F5A1-AB5B-7C4E-00765FF5F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F9570-443C-4056-8DBB-D859DE6AE90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4D61B9-E39E-3EE4-F0D8-EE9CE3954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4C3D16-5D73-9B81-82BD-3BCFE559D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12F91-0DA4-4BD4-AFB2-0A43ED368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052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43575-E8C6-1982-5D3A-242A77C10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23E81D-774C-89A7-BF0C-8B03A3C12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64736B-9AB6-7764-C8D0-1FA6E8F1B5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BAA9F8-F1D9-923B-BA22-4CF93FF572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1298E5-1CFE-BD41-ECBF-53E301AACE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131ACE-2306-2244-1247-D3F56CFBC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F9570-443C-4056-8DBB-D859DE6AE90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0EB5E9-56F6-59DC-4E31-A60575E58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C7C488-2C2A-DFD2-5190-0D1B350EC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12F91-0DA4-4BD4-AFB2-0A43ED368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094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582C5-C6BA-A22D-EEAF-4B41A8D55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A85D7F-8EB7-569A-D02B-E6CD13C9B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F9570-443C-4056-8DBB-D859DE6AE90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231CAD-5217-17D8-C1BC-C689BA9A1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AD567-0938-6A70-99E5-B9DB06E74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12F91-0DA4-4BD4-AFB2-0A43ED368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457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99FFD6-8171-6A44-65DB-C1ABADECD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F9570-443C-4056-8DBB-D859DE6AE90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F03364-E9B9-92B6-5C32-231521BE0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335450-D657-A179-BBF2-859DFECC7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12F91-0DA4-4BD4-AFB2-0A43ED368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291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A289D-0390-4E05-3131-20C89EBC2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9B2D6-EB47-A678-38BE-8F9635B616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9E94E9-F580-F52C-EF8B-75BAEA98F2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2D8803-C1C6-8A22-6E00-AB35161FD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F9570-443C-4056-8DBB-D859DE6AE90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DA0E27-B844-51F0-DEE4-1355379EE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2F54BC-68B0-93D5-CA50-16940E029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12F91-0DA4-4BD4-AFB2-0A43ED368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628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3A00F-4A0F-4A47-7A62-6C3BF4B95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CF8B85-EFEC-F64A-B12D-DF5D46A336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69261A-BEDE-7233-7894-83438B18A4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1B131F-58C7-BE82-A29C-BDA52F767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F9570-443C-4056-8DBB-D859DE6AE90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8C52F1-CBD1-595A-72E7-15EAECE9F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A79342-255E-3195-9AC3-468A6D932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12F91-0DA4-4BD4-AFB2-0A43ED368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610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D350C-9303-E1C9-A816-ECE04AE59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83F5D2-E348-6E26-E5B8-D6B9A37579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D7CC2E-B82B-E605-B5BE-A6109B422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F9570-443C-4056-8DBB-D859DE6AE90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3DA4A8-900D-D367-5566-E72B6039F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DED5C4-EBF0-2570-83A8-6AB9CB9DC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12F91-0DA4-4BD4-AFB2-0A43ED368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70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AF0DB2-B346-04AD-F6D9-B6107A9CE5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3C5D5B-A8E9-0D92-F890-1B8E79F00A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A59C8D-805B-B2F9-08EA-02F205D2E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F9570-443C-4056-8DBB-D859DE6AE90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3D61B9-429B-DF20-08DD-78FDD1A99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976C5-8657-0D73-4201-2E0F5A1CF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12F91-0DA4-4BD4-AFB2-0A43ED368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7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DA230F-91AF-6A84-1BF2-B17B6E64C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563AF9-BE74-EF85-EEED-133185CBF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1CEA79-2A1E-991B-5DFC-B68605AD72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2F9570-443C-4056-8DBB-D859DE6AE90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2F37E0-ABCB-4473-8BB3-98CE42BFCB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74829-E170-84F8-BCA3-F252861B6B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812F91-0DA4-4BD4-AFB2-0A43ED368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868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fif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fif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fif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64045-D993-2CB7-7ECD-0D05EC598A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822005"/>
          </a:xfrm>
        </p:spPr>
        <p:txBody>
          <a:bodyPr/>
          <a:lstStyle/>
          <a:p>
            <a:r>
              <a:rPr lang="en-US" dirty="0"/>
              <a:t>Understanding Neural Networks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2D536A-F600-E47B-7770-73A4AD3DCC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54096"/>
            <a:ext cx="9144000" cy="220370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Homakesavadurgaprasad</a:t>
            </a:r>
            <a:br>
              <a:rPr lang="en-US" dirty="0"/>
            </a:br>
            <a:endParaRPr lang="en-US" dirty="0"/>
          </a:p>
          <a:p>
            <a:r>
              <a:rPr lang="en-US" dirty="0"/>
              <a:t>3SU2026 Model Development</a:t>
            </a:r>
            <a:br>
              <a:rPr lang="en-US" dirty="0"/>
            </a:br>
            <a:endParaRPr lang="en-US" dirty="0"/>
          </a:p>
          <a:p>
            <a:r>
              <a:rPr lang="en-US" dirty="0"/>
              <a:t>05/23/2026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4067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6DA3C4-62AB-AF5F-2259-045CDA181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is a Neural Network?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9362F-38C9-B81A-2389-8F475A1280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700" dirty="0"/>
              <a:t>Inspired by the human brain, uses connected nodes instead of neurons </a:t>
            </a:r>
          </a:p>
          <a:p>
            <a:r>
              <a:rPr lang="en-US" sz="1700" dirty="0"/>
              <a:t>Learns by example, adjusts itself through trial and error until accurate .</a:t>
            </a:r>
          </a:p>
          <a:p>
            <a:r>
              <a:rPr lang="en-US" sz="1700" dirty="0"/>
              <a:t>Doesn’t need rules, it figures out patterns from data on its own</a:t>
            </a:r>
          </a:p>
          <a:p>
            <a:r>
              <a:rPr lang="en-US" sz="1700" dirty="0"/>
              <a:t>The more data it sees the smarter and more accurate it becomes</a:t>
            </a:r>
          </a:p>
          <a:p>
            <a:r>
              <a:rPr lang="en-US" sz="1700" dirty="0"/>
              <a:t>Powers modern AI chatbots, image recognition, translation, recommendations Word2Vec(used in embeddings) is itself a neural network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9595CEA-0E24-49AC-BAB3-D8D3EF1EC94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048" y="1300002"/>
            <a:ext cx="5458968" cy="4257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583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B210B1-9D35-1AFA-C981-AA397B49F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Layers in Neural Networks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1E590-9DC9-0CA7-AA0A-9D032CD0FB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900"/>
              <a:t>Every neural network is made up of 3 main layers working together </a:t>
            </a:r>
          </a:p>
          <a:p>
            <a:r>
              <a:rPr lang="en-US" sz="1900"/>
              <a:t>Input layer : receives the raw data such as word, image, or number</a:t>
            </a:r>
          </a:p>
          <a:p>
            <a:r>
              <a:rPr lang="en-US" sz="1900"/>
              <a:t>Hidden layers: where the actual learning happens through weighted connections </a:t>
            </a:r>
          </a:p>
          <a:p>
            <a:r>
              <a:rPr lang="en-US" sz="1900"/>
              <a:t>Output layer: produces the final answer or prediction</a:t>
            </a:r>
          </a:p>
          <a:p>
            <a:r>
              <a:rPr lang="en-US" sz="1900"/>
              <a:t>The more hidden layers a network has, the deeper and more powerful it becomes</a:t>
            </a:r>
          </a:p>
          <a:p>
            <a:endParaRPr lang="en-US" sz="190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EA58704-C421-7E49-57D9-268F257534A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048" y="699516"/>
            <a:ext cx="5458968" cy="545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144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EEA763-5A72-6C86-8D74-04E8939F9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Neurons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9E996-09C2-FB77-733E-BE7B7A325E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900"/>
              <a:t>Basic building blocks of a neural network </a:t>
            </a:r>
          </a:p>
          <a:p>
            <a:r>
              <a:rPr lang="en-US" sz="1900"/>
              <a:t>Receives input, process it, and pass the result forward </a:t>
            </a:r>
          </a:p>
          <a:p>
            <a:r>
              <a:rPr lang="en-US" sz="1900"/>
              <a:t>Connected through weighted links, weights decide how much influence each connections has </a:t>
            </a:r>
          </a:p>
          <a:p>
            <a:r>
              <a:rPr lang="en-US" sz="1900"/>
              <a:t>When signal is string enough, the neuron activates and passes information forward.</a:t>
            </a:r>
          </a:p>
          <a:p>
            <a:r>
              <a:rPr lang="en-US" sz="1900"/>
              <a:t>Millions working together allow the network to learn complex patterns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0E695C4-B12B-8EBF-45EB-C7CD9CE80FA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048" y="1893665"/>
            <a:ext cx="5458968" cy="3070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84A3FF-D1BD-FC58-1554-06A2B3190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weights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5529C-CB90-878E-BE7C-B5101759AB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500"/>
              <a:t>Weights are numbers that control the strength of connections between neurons </a:t>
            </a:r>
          </a:p>
          <a:p>
            <a:r>
              <a:rPr lang="en-US" sz="1500"/>
              <a:t>They decide how much influence one neuron has on the next </a:t>
            </a:r>
          </a:p>
          <a:p>
            <a:r>
              <a:rPr lang="en-US" sz="1500"/>
              <a:t>When a network is first created, weights start as random numbers</a:t>
            </a:r>
          </a:p>
          <a:p>
            <a:r>
              <a:rPr lang="en-US" sz="1500"/>
              <a:t>During training, weights are constantly adjusted to reduce mistakes </a:t>
            </a:r>
          </a:p>
          <a:p>
            <a:r>
              <a:rPr lang="en-US" sz="1500"/>
              <a:t>The process of adjusting weights is called backpropagation </a:t>
            </a:r>
          </a:p>
          <a:p>
            <a:r>
              <a:rPr lang="en-US" sz="1500"/>
              <a:t>Getting the weights right is what allows the network to learn and make accurate predictions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82D5F76-6B9A-73F9-D543-652C1F5990B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048" y="1033878"/>
            <a:ext cx="5458968" cy="4790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978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E790B8-F2DA-34EA-775C-63BAC8B69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Activation Functions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1A6AA-ACAD-B921-6F11-9122AF3BBD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700"/>
              <a:t>Decide whether a neuron should activate or not </a:t>
            </a:r>
          </a:p>
          <a:p>
            <a:r>
              <a:rPr lang="en-US" sz="1700"/>
              <a:t>Without them the network could only learn simple straight-line patterns</a:t>
            </a:r>
          </a:p>
          <a:p>
            <a:r>
              <a:rPr lang="en-US" sz="1700"/>
              <a:t>Applied after each neuron processes its input </a:t>
            </a:r>
          </a:p>
          <a:p>
            <a:r>
              <a:rPr lang="en-US" sz="1700"/>
              <a:t>Common types: </a:t>
            </a:r>
          </a:p>
          <a:p>
            <a:pPr lvl="1"/>
            <a:r>
              <a:rPr lang="en-US" sz="1700"/>
              <a:t>ReLU – outputs zero if negative, keeps the value if positive</a:t>
            </a:r>
          </a:p>
          <a:p>
            <a:pPr lvl="1"/>
            <a:r>
              <a:rPr lang="en-US" sz="1700"/>
              <a:t>Sigmoid – squishes output between 0 and 1</a:t>
            </a:r>
          </a:p>
          <a:p>
            <a:pPr lvl="1"/>
            <a:r>
              <a:rPr lang="en-US" sz="1700"/>
              <a:t>Softmax – converts outputs into probabilities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AEC3773-0481-7377-2EC2-65FDD3FBD98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048" y="1893665"/>
            <a:ext cx="5458968" cy="3070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2518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E1381B-CBD4-2AB6-B9F4-CC5C43C75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Loss functions 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20283-5472-6239-7DB5-4DD989786A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900"/>
              <a:t>Measures how wrong the networks prediction is </a:t>
            </a:r>
          </a:p>
          <a:p>
            <a:r>
              <a:rPr lang="en-US" sz="1900"/>
              <a:t>The higher the loss, the worse the prediction </a:t>
            </a:r>
          </a:p>
          <a:p>
            <a:r>
              <a:rPr lang="en-US" sz="1900"/>
              <a:t>The goal of training is to make the loss as small as possible </a:t>
            </a:r>
          </a:p>
          <a:p>
            <a:r>
              <a:rPr lang="en-US" sz="1900"/>
              <a:t>Types:	</a:t>
            </a:r>
          </a:p>
          <a:p>
            <a:pPr lvl="1"/>
            <a:r>
              <a:rPr lang="en-US" sz="1900"/>
              <a:t>Mean squared error(MSE) – used for number prediction problems </a:t>
            </a:r>
          </a:p>
          <a:p>
            <a:pPr lvl="1"/>
            <a:r>
              <a:rPr lang="en-US" sz="1900"/>
              <a:t>Cross Entropy – used for classification problems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C905A84-5137-A8DD-FC04-8A66FDFA947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048" y="1607069"/>
            <a:ext cx="5458968" cy="364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40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6932BF-7A0E-616C-65D1-0FBF928FD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Optimization Algorithm 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45B82-1E50-407A-6CE8-A6CC8EA8C1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400"/>
              <a:t>Used to reduce the loss by adjusting the weights after each mistake </a:t>
            </a:r>
          </a:p>
          <a:p>
            <a:r>
              <a:rPr lang="en-US" sz="1400"/>
              <a:t>They figure out which direction to adjust weights to improve accuracy </a:t>
            </a:r>
          </a:p>
          <a:p>
            <a:r>
              <a:rPr lang="en-US" sz="1400"/>
              <a:t>The most common method is called Gradient Descent </a:t>
            </a:r>
          </a:p>
          <a:p>
            <a:r>
              <a:rPr lang="en-US" sz="1400"/>
              <a:t>Learning rate controls how big or small each adjustment step is </a:t>
            </a:r>
          </a:p>
          <a:p>
            <a:r>
              <a:rPr lang="en-US" sz="1400"/>
              <a:t>Types:</a:t>
            </a:r>
          </a:p>
          <a:p>
            <a:pPr lvl="1"/>
            <a:r>
              <a:rPr lang="en-US" sz="1400"/>
              <a:t>SGD(Stochastic Gradient Descent) – updates weights after every single example</a:t>
            </a:r>
          </a:p>
          <a:p>
            <a:pPr lvl="1"/>
            <a:r>
              <a:rPr lang="en-US" sz="1400"/>
              <a:t>Adam – most popular today, adjusts learning rate automatically for faster learning </a:t>
            </a:r>
          </a:p>
          <a:p>
            <a:pPr lvl="1"/>
            <a:r>
              <a:rPr lang="en-US" sz="1400"/>
              <a:t>RMSprop – works well for problems where data changes over time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F34BAF8-2A5E-14E2-A8F6-46AD6EF85E8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048" y="1612652"/>
            <a:ext cx="5458968" cy="3632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789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B1348F-56A6-A450-2B97-42BA5CD5E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Neural Network Architecture Diagram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4EC6CD-7F3A-6D43-9106-7A78A6BABB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/>
              <a:t>Input Data </a:t>
            </a:r>
          </a:p>
          <a:p>
            <a:r>
              <a:rPr lang="en-US" sz="2200"/>
              <a:t>Hidden Layers </a:t>
            </a:r>
          </a:p>
          <a:p>
            <a:r>
              <a:rPr lang="en-US" sz="2200"/>
              <a:t>Output Prediction</a:t>
            </a:r>
          </a:p>
          <a:p>
            <a:endParaRPr lang="en-US" sz="220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DB354D2-248B-AE9E-48B6-F1B5E14A87C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99048" y="1893666"/>
            <a:ext cx="5458968" cy="3070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8184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63EFA0-D195-8DC1-6497-3B9CE3AED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400"/>
              <a:t>Summary 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FCA62-F099-795B-AA68-581C17A94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US" sz="1700"/>
              <a:t>Neural networks learn from data by adjusting connections through trial and error </a:t>
            </a:r>
          </a:p>
          <a:p>
            <a:r>
              <a:rPr lang="en-US" sz="1700"/>
              <a:t>Neurons are organized into layers that receive, process, and output information </a:t>
            </a:r>
          </a:p>
          <a:p>
            <a:r>
              <a:rPr lang="en-US" sz="1700"/>
              <a:t>Activation function add complexity while loss functions measures how wrong prediction is </a:t>
            </a:r>
          </a:p>
          <a:p>
            <a:r>
              <a:rPr lang="en-US" sz="1700"/>
              <a:t>Optimization algorithm like Gradient Descent and Adam reduce errors by fine tuning weights </a:t>
            </a:r>
          </a:p>
          <a:p>
            <a:r>
              <a:rPr lang="en-US" sz="1700"/>
              <a:t>Tools like the TensorFlow embedding projector make it easier to see how AI learns and groups information </a:t>
            </a:r>
          </a:p>
        </p:txBody>
      </p:sp>
      <p:pic>
        <p:nvPicPr>
          <p:cNvPr id="7" name="Graphic 6" descr="Brain">
            <a:extLst>
              <a:ext uri="{FF2B5EF4-FFF2-40B4-BE49-F238E27FC236}">
                <a16:creationId xmlns:a16="http://schemas.microsoft.com/office/drawing/2014/main" id="{0664E60A-E332-EC71-5A70-7657FD5C09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9048" y="699516"/>
            <a:ext cx="5458968" cy="545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410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549</Words>
  <Application>Microsoft Office PowerPoint</Application>
  <PresentationFormat>Widescreen</PresentationFormat>
  <Paragraphs>63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Understanding Neural Networks</vt:lpstr>
      <vt:lpstr>What is a Neural Network?</vt:lpstr>
      <vt:lpstr>Layers in Neural Networks</vt:lpstr>
      <vt:lpstr>Neurons</vt:lpstr>
      <vt:lpstr>weights</vt:lpstr>
      <vt:lpstr>Activation Functions</vt:lpstr>
      <vt:lpstr>Loss functions </vt:lpstr>
      <vt:lpstr>Optimization Algorithm </vt:lpstr>
      <vt:lpstr>Neural Network Architecture Diagram</vt:lpstr>
      <vt:lpstr>Summary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Homesh OM</dc:creator>
  <cp:lastModifiedBy>Homesh OM</cp:lastModifiedBy>
  <cp:revision>1</cp:revision>
  <dcterms:created xsi:type="dcterms:W3CDTF">2026-05-23T11:02:57Z</dcterms:created>
  <dcterms:modified xsi:type="dcterms:W3CDTF">2026-05-23T11:54:24Z</dcterms:modified>
</cp:coreProperties>
</file>
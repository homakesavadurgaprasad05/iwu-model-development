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1417-3BB7-5AEB-C23E-B82A0BDEB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B1218-118E-589A-A93C-CBE8F028C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6FC09-A334-51BA-651E-15C24C17B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442AC-3678-4E01-B246-490C8C89FC5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14217-26BB-3335-1135-87967383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0EB4-DE1B-07F1-1466-C98E6C10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702-019C-48A5-B0F1-42DD2A46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80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A46F-2B9E-6B20-38F0-A20C73E3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2026-324A-99CB-F2E8-4C7659478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0B7FF-60B8-5510-4FA1-256F44A08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442AC-3678-4E01-B246-490C8C89FC5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2443E-F7C2-208C-95FD-7C3F238AF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0E02C-6B8D-0001-BD7D-0E619CB2C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702-019C-48A5-B0F1-42DD2A46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3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0AC96-695C-938B-5F1E-DC8693F1A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4731B-142A-777C-0BE7-77D9B854D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8368C-82A6-2A0C-AC02-5A442D25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442AC-3678-4E01-B246-490C8C89FC5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3A043-5512-7F6B-2C58-C0072CD69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BADDE-D45E-2DC7-A333-C327A7675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702-019C-48A5-B0F1-42DD2A46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22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8F8AB-BCBD-C837-5B8C-C9D0737A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FCF8E-A8AD-F6D9-6D66-6829A5E02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D44A3-D70E-3863-2D71-96F832B57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9EBCC-B3B7-0AE6-E542-811A3997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442AC-3678-4E01-B246-490C8C89FC5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3A33-19C8-FE84-AC15-748FF293C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D2F15-8A63-30B3-1F95-CA1408E0F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702-019C-48A5-B0F1-42DD2A46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153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3557E-BB07-B495-BBC0-B178C64CA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9D4B3-30F4-D8F5-D315-ECD39585B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654E6-941C-58EE-A270-C36A74A6F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C8350-3652-B90C-811A-BEC26C45D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A1598-9719-10DA-6050-E3A4D9375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57A834-3BB2-059C-4980-9988282D6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442AC-3678-4E01-B246-490C8C89FC5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C28A5B-6946-56DE-5F37-406FA5B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32FB1C-39A3-FCA0-1316-08DB42766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702-019C-48A5-B0F1-42DD2A46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71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4F16-E9AD-18F6-48A4-1649FE40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D89A8-E502-6456-C4E6-55E5EAD63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442AC-3678-4E01-B246-490C8C89FC5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BAF8C-E0CB-3FAD-12EA-5BE4A6297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5564E-6930-B352-C031-D17A29448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702-019C-48A5-B0F1-42DD2A46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63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7F3FB-921D-97DD-5E19-081194B3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442AC-3678-4E01-B246-490C8C89FC5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E9ABA6-A64E-DDD6-7E2D-0381AD8F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3B39F-1A94-71E5-DA78-9D4910CB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702-019C-48A5-B0F1-42DD2A46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90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B04E-6ABF-DA77-E85D-890A5100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7739A-F021-C6D3-DA05-5B7103D02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752FB-57A7-A0CE-3CD1-65F99665D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1D969-8DBB-17B9-D4AF-23ED8FBC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442AC-3678-4E01-B246-490C8C89FC5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290D5-6E74-8262-AB54-4669F4B0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8BF1C-D2D1-0049-4642-EDE90D2E8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702-019C-48A5-B0F1-42DD2A46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21BB-8A98-9DCB-F85B-6EC6CCC5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DD26B6-DC60-E8CF-D849-9DFE91E0A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06E9B-F319-0364-68C8-A8C406680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BD08E-E817-29FF-130C-893FFB09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442AC-3678-4E01-B246-490C8C89FC5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04848-A3BB-713D-264B-50EE5D11B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8FA67-852A-DAA5-095E-350E2BF0C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702-019C-48A5-B0F1-42DD2A46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87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685D5-275C-A412-E2F7-A898125EE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21BB8B-B3FC-ED70-7096-A80E5A64A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BF9B0-FC4B-76CC-D625-82DE89905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442AC-3678-4E01-B246-490C8C89FC5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0A80-7271-D5FC-4F06-0705603B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46834-2DA9-279F-1A53-D9FD9CC1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702-019C-48A5-B0F1-42DD2A46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80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B521CE-E9F1-1665-B989-95C2725131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DC2B7-C9FE-E250-460B-1D4ABC205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A3E5E-84C7-F288-937A-80178108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442AC-3678-4E01-B246-490C8C89FC5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E2498-6AB0-D305-1638-978B6A0CB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C5803-01E1-A842-CFAE-82E2F8E2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702-019C-48A5-B0F1-42DD2A46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1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ECE076-FE14-E7EE-5CCE-B60F1537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0B53B-47B5-3F28-26D2-36EA23598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7D046-8436-53CC-ACEC-175B56694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442AC-3678-4E01-B246-490C8C89FC5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C9C06-A73B-C23D-A352-2F6FF0674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9D9BA-B310-167A-A294-9A0EC7509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1EA702-019C-48A5-B0F1-42DD2A46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sX0" fmla="*/ 0 w 5649003"/>
              <a:gd name="csY0" fmla="*/ 5325836 h 10651671"/>
              <a:gd name="csX1" fmla="*/ 2824502 w 5649003"/>
              <a:gd name="csY1" fmla="*/ 0 h 10651671"/>
              <a:gd name="csX2" fmla="*/ 5649004 w 5649003"/>
              <a:gd name="csY2" fmla="*/ 5325836 h 10651671"/>
              <a:gd name="csX3" fmla="*/ 2824502 w 5649003"/>
              <a:gd name="csY3" fmla="*/ 10651672 h 10651671"/>
              <a:gd name="csX4" fmla="*/ 0 w 5649003"/>
              <a:gd name="csY4" fmla="*/ 5325836 h 106516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C253D-BFC9-ED57-BE6E-4147B2716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544" y="1911096"/>
            <a:ext cx="8055864" cy="2076651"/>
          </a:xfrm>
        </p:spPr>
        <p:txBody>
          <a:bodyPr anchor="b">
            <a:normAutofit/>
          </a:bodyPr>
          <a:lstStyle/>
          <a:p>
            <a:r>
              <a:rPr lang="en-US" sz="4600">
                <a:solidFill>
                  <a:srgbClr val="FFFFFF"/>
                </a:solidFill>
              </a:rPr>
              <a:t>Training Process and Resource Costs of Generative AI Large Language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68FD21-7956-1655-2FAB-492AF5706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7832" y="4353507"/>
            <a:ext cx="5733288" cy="932688"/>
          </a:xfrm>
        </p:spPr>
        <p:txBody>
          <a:bodyPr>
            <a:normAutofit/>
          </a:bodyPr>
          <a:lstStyle/>
          <a:p>
            <a:r>
              <a:rPr lang="en-US" sz="1300">
                <a:solidFill>
                  <a:srgbClr val="FFFFFF"/>
                </a:solidFill>
              </a:rPr>
              <a:t>Homakesavadurgaprasad </a:t>
            </a:r>
          </a:p>
          <a:p>
            <a:r>
              <a:rPr lang="en-US" sz="1300">
                <a:solidFill>
                  <a:srgbClr val="FFFFFF"/>
                </a:solidFill>
              </a:rPr>
              <a:t>3SU2026 Model Development</a:t>
            </a:r>
          </a:p>
          <a:p>
            <a:r>
              <a:rPr lang="en-US" sz="1300">
                <a:solidFill>
                  <a:srgbClr val="FFFFFF"/>
                </a:solidFill>
              </a:rPr>
              <a:t>05/27/2026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76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32C202-BFDA-0828-D5D7-B886477D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an LLM?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5847D-D0F6-C9DB-AF4C-8614F9B8A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1"/>
              <a:t>LLM (Large Language Model)</a:t>
            </a:r>
            <a:r>
              <a:rPr lang="en-US" sz="1700"/>
              <a:t> – An AI system trained on massive amounts of text data to understand and generate human-like language.</a:t>
            </a:r>
          </a:p>
          <a:p>
            <a:r>
              <a:rPr lang="en-US" sz="1700"/>
              <a:t>Examples:	</a:t>
            </a:r>
          </a:p>
          <a:p>
            <a:pPr lvl="1"/>
            <a:r>
              <a:rPr lang="en-US" sz="1700" b="1"/>
              <a:t>OpenAI</a:t>
            </a:r>
            <a:r>
              <a:rPr lang="en-US" sz="1700"/>
              <a:t> – ChatGPT (GPT-4)</a:t>
            </a:r>
          </a:p>
          <a:p>
            <a:pPr lvl="1"/>
            <a:r>
              <a:rPr lang="en-US" sz="1700" b="1"/>
              <a:t>Google</a:t>
            </a:r>
            <a:r>
              <a:rPr lang="en-US" sz="1700"/>
              <a:t> – Gemini</a:t>
            </a:r>
          </a:p>
          <a:p>
            <a:pPr lvl="1"/>
            <a:r>
              <a:rPr lang="en-US" sz="1700" b="1"/>
              <a:t>Anthropic</a:t>
            </a:r>
            <a:r>
              <a:rPr lang="en-US" sz="1700"/>
              <a:t> – Claude</a:t>
            </a:r>
          </a:p>
          <a:p>
            <a:pPr lvl="1"/>
            <a:r>
              <a:rPr lang="en-US" sz="1700" b="1"/>
              <a:t>Meta</a:t>
            </a:r>
            <a:r>
              <a:rPr lang="en-US" sz="1700"/>
              <a:t> – LLaMA</a:t>
            </a:r>
          </a:p>
          <a:p>
            <a:pPr lvl="1"/>
            <a:r>
              <a:rPr lang="en-US" sz="1700" b="1"/>
              <a:t>Microsoft</a:t>
            </a:r>
            <a:r>
              <a:rPr lang="en-US" sz="1700"/>
              <a:t> – Copilot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E6F965-3D7F-8282-7BF3-57B10F6C11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124884"/>
            <a:ext cx="6903720" cy="460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70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708B-AA1E-EBD5-EB5D-0B77FB88A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Training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B6EB5-B463-79A6-699B-256BE87A6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9873C9-9799-234F-AD30-3E63FE8683FA}"/>
              </a:ext>
            </a:extLst>
          </p:cNvPr>
          <p:cNvSpPr/>
          <p:nvPr/>
        </p:nvSpPr>
        <p:spPr>
          <a:xfrm>
            <a:off x="909822" y="2163525"/>
            <a:ext cx="1389888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Collection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DEF7F6-2252-5E48-F708-7436FFFA005F}"/>
              </a:ext>
            </a:extLst>
          </p:cNvPr>
          <p:cNvSpPr/>
          <p:nvPr/>
        </p:nvSpPr>
        <p:spPr>
          <a:xfrm>
            <a:off x="2004778" y="4319318"/>
            <a:ext cx="1553712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Deployment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0EE95B-A263-1FA5-F9C9-C3DEF0591B84}"/>
              </a:ext>
            </a:extLst>
          </p:cNvPr>
          <p:cNvSpPr/>
          <p:nvPr/>
        </p:nvSpPr>
        <p:spPr>
          <a:xfrm>
            <a:off x="2965708" y="2163525"/>
            <a:ext cx="1389888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Cleaning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296E1B-78BA-B3A6-B885-08A7FAF5419D}"/>
              </a:ext>
            </a:extLst>
          </p:cNvPr>
          <p:cNvSpPr/>
          <p:nvPr/>
        </p:nvSpPr>
        <p:spPr>
          <a:xfrm>
            <a:off x="4852390" y="4319318"/>
            <a:ext cx="1389888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Evaluation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1F2D82-497D-99CA-99F9-2435DF71CFE8}"/>
              </a:ext>
            </a:extLst>
          </p:cNvPr>
          <p:cNvSpPr/>
          <p:nvPr/>
        </p:nvSpPr>
        <p:spPr>
          <a:xfrm>
            <a:off x="5274564" y="2163525"/>
            <a:ext cx="1553712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Tokenization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58F660-8B72-57D2-05AE-4727684DE93D}"/>
              </a:ext>
            </a:extLst>
          </p:cNvPr>
          <p:cNvSpPr/>
          <p:nvPr/>
        </p:nvSpPr>
        <p:spPr>
          <a:xfrm>
            <a:off x="7583420" y="2133299"/>
            <a:ext cx="1389888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 Training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B43D1D-C1D5-DDEA-0366-0A756CF8E651}"/>
              </a:ext>
            </a:extLst>
          </p:cNvPr>
          <p:cNvSpPr/>
          <p:nvPr/>
        </p:nvSpPr>
        <p:spPr>
          <a:xfrm>
            <a:off x="7583420" y="4319318"/>
            <a:ext cx="1389888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Fine Tuning 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CFAD406-3FF5-0FB9-9128-28C2E4C34AB3}"/>
              </a:ext>
            </a:extLst>
          </p:cNvPr>
          <p:cNvSpPr/>
          <p:nvPr/>
        </p:nvSpPr>
        <p:spPr>
          <a:xfrm>
            <a:off x="2299710" y="2560320"/>
            <a:ext cx="665998" cy="2194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122A432-1B7D-46DF-EF98-72D46CF1D69D}"/>
              </a:ext>
            </a:extLst>
          </p:cNvPr>
          <p:cNvSpPr/>
          <p:nvPr/>
        </p:nvSpPr>
        <p:spPr>
          <a:xfrm>
            <a:off x="4482081" y="2510997"/>
            <a:ext cx="665998" cy="2194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5FB4C04-6530-C004-A8D7-E8A87DAC3589}"/>
              </a:ext>
            </a:extLst>
          </p:cNvPr>
          <p:cNvSpPr/>
          <p:nvPr/>
        </p:nvSpPr>
        <p:spPr>
          <a:xfrm>
            <a:off x="6917422" y="2510997"/>
            <a:ext cx="665998" cy="2194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23060D77-FA1D-8200-AE52-02023FEC7A27}"/>
              </a:ext>
            </a:extLst>
          </p:cNvPr>
          <p:cNvSpPr/>
          <p:nvPr/>
        </p:nvSpPr>
        <p:spPr>
          <a:xfrm>
            <a:off x="8193024" y="3273552"/>
            <a:ext cx="246888" cy="7223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DC33B721-ED3F-30A1-73D2-CBECC32AE782}"/>
              </a:ext>
            </a:extLst>
          </p:cNvPr>
          <p:cNvSpPr/>
          <p:nvPr/>
        </p:nvSpPr>
        <p:spPr>
          <a:xfrm>
            <a:off x="6611112" y="4690872"/>
            <a:ext cx="877824" cy="21945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5BAD9EE3-72D7-4A55-305D-77E3E98A35C9}"/>
              </a:ext>
            </a:extLst>
          </p:cNvPr>
          <p:cNvSpPr/>
          <p:nvPr/>
        </p:nvSpPr>
        <p:spPr>
          <a:xfrm>
            <a:off x="3927324" y="4690872"/>
            <a:ext cx="877824" cy="21945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2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521AB8-6257-1446-4D85-16EB3B120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Resource required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4DE05-24DB-09AB-558C-2727243D6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r>
              <a:rPr lang="en-US" sz="1600" b="1"/>
              <a:t>Datasets</a:t>
            </a:r>
            <a:endParaRPr lang="en-US" sz="1600"/>
          </a:p>
          <a:p>
            <a:pPr lvl="1"/>
            <a:r>
              <a:rPr lang="en-US" sz="1600"/>
              <a:t>Terabytes of internet text, books, and code</a:t>
            </a:r>
          </a:p>
          <a:p>
            <a:pPr lvl="1"/>
            <a:r>
              <a:rPr lang="en-US" sz="1600"/>
              <a:t>Sources: Common Crawl, Wikipedia, GitHub, news articles</a:t>
            </a:r>
          </a:p>
          <a:p>
            <a:r>
              <a:rPr lang="en-US" sz="1600" b="1"/>
              <a:t>GPUs / TPUs</a:t>
            </a:r>
            <a:endParaRPr lang="en-US" sz="1600"/>
          </a:p>
          <a:p>
            <a:pPr lvl="1"/>
            <a:r>
              <a:rPr lang="en-US" sz="1600"/>
              <a:t>NVIDIA A100 / H100 GPU clusters</a:t>
            </a:r>
          </a:p>
          <a:p>
            <a:pPr lvl="1"/>
            <a:r>
              <a:rPr lang="en-US" sz="1600"/>
              <a:t>Google TPU v4/v5 pods for large-scale training</a:t>
            </a:r>
          </a:p>
          <a:p>
            <a:r>
              <a:rPr lang="en-US" sz="1600" b="1"/>
              <a:t>Energy</a:t>
            </a:r>
            <a:endParaRPr lang="en-US" sz="1600"/>
          </a:p>
          <a:p>
            <a:pPr lvl="1"/>
            <a:r>
              <a:rPr lang="en-US" sz="1600"/>
              <a:t>Massive electricity consumption during training</a:t>
            </a:r>
          </a:p>
          <a:p>
            <a:pPr lvl="1"/>
            <a:r>
              <a:rPr lang="en-US" sz="1600"/>
              <a:t>GPT-3 training used approx. 1,287 MWh of energy</a:t>
            </a:r>
          </a:p>
          <a:p>
            <a:endParaRPr lang="en-US" sz="1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3234D-A75F-0CAC-77D1-5F7415C0E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r>
              <a:rPr lang="en-US" sz="1400" b="1"/>
              <a:t>Time</a:t>
            </a:r>
            <a:endParaRPr lang="en-US" sz="1400"/>
          </a:p>
          <a:p>
            <a:pPr lvl="1"/>
            <a:r>
              <a:rPr lang="en-US" sz="1400"/>
              <a:t>Pre-training takes weeks to months</a:t>
            </a:r>
          </a:p>
          <a:p>
            <a:pPr lvl="1"/>
            <a:r>
              <a:rPr lang="en-US" sz="1400"/>
              <a:t>Fine-tuning and testing add additional time</a:t>
            </a:r>
          </a:p>
          <a:p>
            <a:r>
              <a:rPr lang="en-US" sz="1400" b="1"/>
              <a:t>Cloud Infrastructure</a:t>
            </a:r>
            <a:endParaRPr lang="en-US" sz="1400"/>
          </a:p>
          <a:p>
            <a:pPr lvl="1"/>
            <a:r>
              <a:rPr lang="en-US" sz="1400"/>
              <a:t>Microsoft Azure, AWS, Google Cloud platforms</a:t>
            </a:r>
          </a:p>
          <a:p>
            <a:pPr lvl="1"/>
            <a:r>
              <a:rPr lang="en-US" sz="1400"/>
              <a:t>Distributed computing across thousands of nodes</a:t>
            </a:r>
          </a:p>
          <a:p>
            <a:r>
              <a:rPr lang="en-US" sz="1400" b="1"/>
              <a:t>Engineers / Researchers</a:t>
            </a:r>
            <a:endParaRPr lang="en-US" sz="1400"/>
          </a:p>
          <a:p>
            <a:pPr lvl="1"/>
            <a:r>
              <a:rPr lang="en-US" sz="1400"/>
              <a:t>Large teams of ML engineers, data scientists, and researchers</a:t>
            </a:r>
          </a:p>
          <a:p>
            <a:pPr lvl="1"/>
            <a:r>
              <a:rPr lang="en-US" sz="1400"/>
              <a:t>Roles include model training, evaluation, safety, and deployment</a:t>
            </a:r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7614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0D3E2-2440-92AC-D6B3-310FBA313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Cost of Training Popular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CA8C3-FD12-20A6-8EE6-585A63F51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7034" y="2194102"/>
            <a:ext cx="4438036" cy="39085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100" b="1"/>
              <a:t>Why Does Training Cost So Much?</a:t>
            </a:r>
            <a:endParaRPr lang="en-US" sz="1100"/>
          </a:p>
          <a:p>
            <a:pPr lvl="2"/>
            <a:r>
              <a:rPr lang="en-US" sz="1100"/>
              <a:t>Thousands of GPUs running for weeks or months</a:t>
            </a:r>
          </a:p>
          <a:p>
            <a:pPr lvl="2"/>
            <a:r>
              <a:rPr lang="en-US" sz="1100"/>
              <a:t>Massive cloud infrastructure and energy bills</a:t>
            </a:r>
          </a:p>
          <a:p>
            <a:pPr lvl="2"/>
            <a:r>
              <a:rPr lang="en-US" sz="1100"/>
              <a:t>Large teams of engineers and researchers</a:t>
            </a:r>
          </a:p>
          <a:p>
            <a:pPr lvl="2"/>
            <a:r>
              <a:rPr lang="en-US" sz="1100"/>
              <a:t>Data collection, cleaning, and storage costs</a:t>
            </a:r>
          </a:p>
          <a:p>
            <a:r>
              <a:rPr lang="en-US" sz="1100" b="1"/>
              <a:t>Key Cost Factors:</a:t>
            </a:r>
            <a:endParaRPr lang="en-US" sz="1100"/>
          </a:p>
          <a:p>
            <a:pPr lvl="2"/>
            <a:r>
              <a:rPr lang="en-US" sz="1100" b="1"/>
              <a:t>Compute</a:t>
            </a:r>
            <a:r>
              <a:rPr lang="en-US" sz="1100"/>
              <a:t> – GPU/TPU rental or purchase costs</a:t>
            </a:r>
          </a:p>
          <a:p>
            <a:pPr lvl="2"/>
            <a:r>
              <a:rPr lang="en-US" sz="1100" b="1"/>
              <a:t>Energy</a:t>
            </a:r>
            <a:r>
              <a:rPr lang="en-US" sz="1100"/>
              <a:t> – Electricity for powering and cooling servers</a:t>
            </a:r>
          </a:p>
          <a:p>
            <a:pPr lvl="2"/>
            <a:r>
              <a:rPr lang="en-US" sz="1100" b="1"/>
              <a:t>Data</a:t>
            </a:r>
            <a:r>
              <a:rPr lang="en-US" sz="1100"/>
              <a:t> – Licensing, collecting, and processing datasets</a:t>
            </a:r>
          </a:p>
          <a:p>
            <a:pPr lvl="2"/>
            <a:r>
              <a:rPr lang="en-US" sz="1100" b="1"/>
              <a:t>Talent</a:t>
            </a:r>
            <a:r>
              <a:rPr lang="en-US" sz="1100"/>
              <a:t> – Salaries for top AI researchers and engineers</a:t>
            </a:r>
          </a:p>
          <a:p>
            <a:pPr lvl="2"/>
            <a:r>
              <a:rPr lang="en-US" sz="1100" b="1"/>
              <a:t>Infrastructure</a:t>
            </a:r>
            <a:r>
              <a:rPr lang="en-US" sz="1100"/>
              <a:t> – Cloud storage, networking, and security</a:t>
            </a:r>
          </a:p>
          <a:p>
            <a:endParaRPr lang="en-US" sz="110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EE4CCCE-D155-5B2A-A340-EE96A0E2C1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2291781"/>
              </p:ext>
            </p:extLst>
          </p:nvPr>
        </p:nvGraphicFramePr>
        <p:xfrm>
          <a:off x="6880610" y="1281463"/>
          <a:ext cx="4737651" cy="4317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551">
                  <a:extLst>
                    <a:ext uri="{9D8B030D-6E8A-4147-A177-3AD203B41FA5}">
                      <a16:colId xmlns:a16="http://schemas.microsoft.com/office/drawing/2014/main" val="33375497"/>
                    </a:ext>
                  </a:extLst>
                </a:gridCol>
                <a:gridCol w="1589627">
                  <a:extLst>
                    <a:ext uri="{9D8B030D-6E8A-4147-A177-3AD203B41FA5}">
                      <a16:colId xmlns:a16="http://schemas.microsoft.com/office/drawing/2014/main" val="3149790722"/>
                    </a:ext>
                  </a:extLst>
                </a:gridCol>
                <a:gridCol w="1636473">
                  <a:extLst>
                    <a:ext uri="{9D8B030D-6E8A-4147-A177-3AD203B41FA5}">
                      <a16:colId xmlns:a16="http://schemas.microsoft.com/office/drawing/2014/main" val="1716994285"/>
                    </a:ext>
                  </a:extLst>
                </a:gridCol>
              </a:tblGrid>
              <a:tr h="831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Model</a:t>
                      </a:r>
                    </a:p>
                  </a:txBody>
                  <a:tcPr marL="112429" marR="112429" marT="56215" marB="56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Company</a:t>
                      </a:r>
                    </a:p>
                  </a:txBody>
                  <a:tcPr marL="112429" marR="112429" marT="56215" marB="56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Estimated Cost</a:t>
                      </a:r>
                    </a:p>
                  </a:txBody>
                  <a:tcPr marL="112429" marR="112429" marT="56215" marB="56215" anchor="ctr"/>
                </a:tc>
                <a:extLst>
                  <a:ext uri="{0D108BD9-81ED-4DB2-BD59-A6C34878D82A}">
                    <a16:rowId xmlns:a16="http://schemas.microsoft.com/office/drawing/2014/main" val="3856453496"/>
                  </a:ext>
                </a:extLst>
              </a:tr>
              <a:tr h="494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GPT-4</a:t>
                      </a:r>
                    </a:p>
                  </a:txBody>
                  <a:tcPr marL="112429" marR="112429" marT="56215" marB="56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OpenAI</a:t>
                      </a:r>
                    </a:p>
                  </a:txBody>
                  <a:tcPr marL="112429" marR="112429" marT="56215" marB="56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$100M+</a:t>
                      </a:r>
                    </a:p>
                  </a:txBody>
                  <a:tcPr marL="112429" marR="112429" marT="56215" marB="56215" anchor="ctr"/>
                </a:tc>
                <a:extLst>
                  <a:ext uri="{0D108BD9-81ED-4DB2-BD59-A6C34878D82A}">
                    <a16:rowId xmlns:a16="http://schemas.microsoft.com/office/drawing/2014/main" val="2071079923"/>
                  </a:ext>
                </a:extLst>
              </a:tr>
              <a:tr h="494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Gemini</a:t>
                      </a:r>
                    </a:p>
                  </a:txBody>
                  <a:tcPr marL="112429" marR="112429" marT="56215" marB="56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Google</a:t>
                      </a:r>
                    </a:p>
                  </a:txBody>
                  <a:tcPr marL="112429" marR="112429" marT="56215" marB="56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$200M+</a:t>
                      </a:r>
                    </a:p>
                  </a:txBody>
                  <a:tcPr marL="112429" marR="112429" marT="56215" marB="56215" anchor="ctr"/>
                </a:tc>
                <a:extLst>
                  <a:ext uri="{0D108BD9-81ED-4DB2-BD59-A6C34878D82A}">
                    <a16:rowId xmlns:a16="http://schemas.microsoft.com/office/drawing/2014/main" val="3693510290"/>
                  </a:ext>
                </a:extLst>
              </a:tr>
              <a:tr h="831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Claude</a:t>
                      </a:r>
                    </a:p>
                  </a:txBody>
                  <a:tcPr marL="112429" marR="112429" marT="56215" marB="56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Anthropic</a:t>
                      </a:r>
                    </a:p>
                  </a:txBody>
                  <a:tcPr marL="112429" marR="112429" marT="56215" marB="56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$50M - $100M</a:t>
                      </a:r>
                    </a:p>
                  </a:txBody>
                  <a:tcPr marL="112429" marR="112429" marT="56215" marB="56215" anchor="ctr"/>
                </a:tc>
                <a:extLst>
                  <a:ext uri="{0D108BD9-81ED-4DB2-BD59-A6C34878D82A}">
                    <a16:rowId xmlns:a16="http://schemas.microsoft.com/office/drawing/2014/main" val="3531103723"/>
                  </a:ext>
                </a:extLst>
              </a:tr>
              <a:tr h="831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LLaMA 3</a:t>
                      </a:r>
                    </a:p>
                  </a:txBody>
                  <a:tcPr marL="112429" marR="112429" marT="56215" marB="56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Meta</a:t>
                      </a:r>
                    </a:p>
                  </a:txBody>
                  <a:tcPr marL="112429" marR="112429" marT="56215" marB="56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$30M - $50M</a:t>
                      </a:r>
                    </a:p>
                  </a:txBody>
                  <a:tcPr marL="112429" marR="112429" marT="56215" marB="56215" anchor="ctr"/>
                </a:tc>
                <a:extLst>
                  <a:ext uri="{0D108BD9-81ED-4DB2-BD59-A6C34878D82A}">
                    <a16:rowId xmlns:a16="http://schemas.microsoft.com/office/drawing/2014/main" val="1327538846"/>
                  </a:ext>
                </a:extLst>
              </a:tr>
              <a:tr h="831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Grok</a:t>
                      </a:r>
                    </a:p>
                  </a:txBody>
                  <a:tcPr marL="112429" marR="112429" marT="56215" marB="56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xAI</a:t>
                      </a:r>
                    </a:p>
                  </a:txBody>
                  <a:tcPr marL="112429" marR="112429" marT="56215" marB="56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Multi-million</a:t>
                      </a:r>
                    </a:p>
                  </a:txBody>
                  <a:tcPr marL="112429" marR="112429" marT="56215" marB="56215" anchor="ctr"/>
                </a:tc>
                <a:extLst>
                  <a:ext uri="{0D108BD9-81ED-4DB2-BD59-A6C34878D82A}">
                    <a16:rowId xmlns:a16="http://schemas.microsoft.com/office/drawing/2014/main" val="586422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76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6C8CAB-FE0A-95EF-86FB-E0EC15169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Challenges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877B3-E826-487B-A8A1-0375C00B0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 fontScale="92500" lnSpcReduction="20000"/>
          </a:bodyPr>
          <a:lstStyle/>
          <a:p>
            <a:r>
              <a:rPr lang="en-US" sz="1200" b="1" dirty="0"/>
              <a:t>High Electricity Consumption</a:t>
            </a:r>
            <a:endParaRPr lang="en-US" sz="1200" dirty="0"/>
          </a:p>
          <a:p>
            <a:pPr lvl="1"/>
            <a:r>
              <a:rPr lang="en-US" sz="1200" dirty="0"/>
              <a:t>Training a single LLM can consume millions of kilowatt-hours</a:t>
            </a:r>
          </a:p>
          <a:p>
            <a:pPr lvl="1"/>
            <a:r>
              <a:rPr lang="en-US" sz="1200" dirty="0"/>
              <a:t>GPT-3 training emitted approx. </a:t>
            </a:r>
            <a:r>
              <a:rPr lang="en-US" sz="1200" b="1" dirty="0"/>
              <a:t>552 tons of CO2</a:t>
            </a:r>
            <a:endParaRPr lang="en-US" sz="1200" dirty="0"/>
          </a:p>
          <a:p>
            <a:pPr lvl="1"/>
            <a:r>
              <a:rPr lang="en-US" sz="1200" dirty="0"/>
              <a:t>Continuous inference (daily usage) adds even more energy cost</a:t>
            </a:r>
          </a:p>
          <a:p>
            <a:pPr lvl="1"/>
            <a:r>
              <a:rPr lang="en-US" sz="1200" dirty="0"/>
              <a:t>Data centers run 24/7 requiring constant power supply</a:t>
            </a:r>
          </a:p>
          <a:p>
            <a:r>
              <a:rPr lang="en-US" sz="1200" b="1" dirty="0"/>
              <a:t>Expensive Hardware</a:t>
            </a:r>
            <a:endParaRPr lang="en-US" sz="1200" dirty="0"/>
          </a:p>
          <a:p>
            <a:pPr lvl="1"/>
            <a:r>
              <a:rPr lang="en-US" sz="1200" dirty="0"/>
              <a:t>NVIDIA H100 GPU costs approx. </a:t>
            </a:r>
            <a:r>
              <a:rPr lang="en-US" sz="1200" b="1" dirty="0"/>
              <a:t>$30,000 - $40,000 per unit</a:t>
            </a:r>
            <a:endParaRPr lang="en-US" sz="1200" dirty="0"/>
          </a:p>
          <a:p>
            <a:pPr lvl="1"/>
            <a:r>
              <a:rPr lang="en-US" sz="1200" dirty="0"/>
              <a:t>Large models require </a:t>
            </a:r>
            <a:r>
              <a:rPr lang="en-US" sz="1200" b="1" dirty="0"/>
              <a:t>thousands of GPUs</a:t>
            </a:r>
            <a:r>
              <a:rPr lang="en-US" sz="1200" dirty="0"/>
              <a:t> running in parallel</a:t>
            </a:r>
          </a:p>
          <a:p>
            <a:pPr lvl="1"/>
            <a:r>
              <a:rPr lang="en-US" sz="1200" dirty="0"/>
              <a:t>Hardware upgrades needed frequently as models grow larger</a:t>
            </a:r>
          </a:p>
          <a:p>
            <a:pPr lvl="1"/>
            <a:r>
              <a:rPr lang="en-US" sz="1200" dirty="0"/>
              <a:t>Not affordable for small companies or individuals</a:t>
            </a:r>
          </a:p>
          <a:p>
            <a:r>
              <a:rPr lang="en-US" sz="1200" b="1" dirty="0"/>
              <a:t>Environmental Impact</a:t>
            </a:r>
            <a:endParaRPr lang="en-US" sz="1200" dirty="0"/>
          </a:p>
          <a:p>
            <a:pPr lvl="1"/>
            <a:r>
              <a:rPr lang="en-US" sz="1200" dirty="0"/>
              <a:t>High carbon footprint from energy-intensive training</a:t>
            </a:r>
          </a:p>
          <a:p>
            <a:pPr lvl="1"/>
            <a:r>
              <a:rPr lang="en-US" sz="1200" dirty="0"/>
              <a:t>Large water usage for cooling data center servers</a:t>
            </a:r>
          </a:p>
          <a:p>
            <a:pPr lvl="1"/>
            <a:r>
              <a:rPr lang="en-US" sz="1200" dirty="0"/>
              <a:t>E-waste from frequent hardware upgrades</a:t>
            </a:r>
          </a:p>
          <a:p>
            <a:pPr lvl="1"/>
            <a:r>
              <a:rPr lang="en-US" sz="1200" dirty="0"/>
              <a:t>Growing concern among researchers about AI sustainability</a:t>
            </a:r>
          </a:p>
          <a:p>
            <a:endParaRPr lang="en-US" sz="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DB985-63D1-1D03-C6A7-F9766C01D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 fontScale="92500" lnSpcReduction="20000"/>
          </a:bodyPr>
          <a:lstStyle/>
          <a:p>
            <a:r>
              <a:rPr lang="en-US" sz="1300" b="1" dirty="0"/>
              <a:t>Need for Distributed Computing</a:t>
            </a:r>
            <a:endParaRPr lang="en-US" sz="1300" dirty="0"/>
          </a:p>
          <a:p>
            <a:pPr lvl="1"/>
            <a:r>
              <a:rPr lang="en-US" sz="1300" dirty="0"/>
              <a:t>Single machines cannot handle LLM training alone</a:t>
            </a:r>
          </a:p>
          <a:p>
            <a:pPr lvl="1"/>
            <a:r>
              <a:rPr lang="en-US" sz="1300" dirty="0"/>
              <a:t>Requires thousands of nodes working together</a:t>
            </a:r>
          </a:p>
          <a:p>
            <a:pPr lvl="1"/>
            <a:r>
              <a:rPr lang="en-US" sz="1300" dirty="0"/>
              <a:t>Complex networking and synchronization challenges</a:t>
            </a:r>
          </a:p>
          <a:p>
            <a:pPr lvl="1"/>
            <a:r>
              <a:rPr lang="en-US" sz="1300" dirty="0"/>
              <a:t>Specialized frameworks needed like </a:t>
            </a:r>
            <a:r>
              <a:rPr lang="en-US" sz="1300" dirty="0" err="1"/>
              <a:t>PyTorch</a:t>
            </a:r>
            <a:r>
              <a:rPr lang="en-US" sz="1300" dirty="0"/>
              <a:t>, </a:t>
            </a:r>
            <a:r>
              <a:rPr lang="en-US" sz="1300" dirty="0" err="1"/>
              <a:t>Horovod</a:t>
            </a:r>
            <a:r>
              <a:rPr lang="en-US" sz="1300" dirty="0"/>
              <a:t>, </a:t>
            </a:r>
            <a:r>
              <a:rPr lang="en-US" sz="1300" dirty="0" err="1"/>
              <a:t>DeepSpeed</a:t>
            </a:r>
            <a:endParaRPr lang="en-US" sz="1300" dirty="0"/>
          </a:p>
          <a:p>
            <a:r>
              <a:rPr lang="en-US" sz="1300" b="1" dirty="0"/>
              <a:t>AI Accessibility Challenges</a:t>
            </a:r>
            <a:endParaRPr lang="en-US" sz="1300" dirty="0"/>
          </a:p>
          <a:p>
            <a:pPr lvl="1"/>
            <a:r>
              <a:rPr lang="en-US" sz="1300" dirty="0"/>
              <a:t>Only large tech giants can afford to build frontier LLMs</a:t>
            </a:r>
          </a:p>
          <a:p>
            <a:pPr lvl="1"/>
            <a:r>
              <a:rPr lang="en-US" sz="1300" dirty="0"/>
              <a:t>Developing countries have limited access to AI tools</a:t>
            </a:r>
          </a:p>
          <a:p>
            <a:pPr lvl="1"/>
            <a:r>
              <a:rPr lang="en-US" sz="1300" dirty="0"/>
              <a:t>High API costs limit usage for small businesses and startups</a:t>
            </a:r>
          </a:p>
          <a:p>
            <a:pPr lvl="1"/>
            <a:r>
              <a:rPr lang="en-US" sz="1300" dirty="0"/>
              <a:t>Risk of creating a </a:t>
            </a:r>
            <a:r>
              <a:rPr lang="en-US" sz="1300" b="1" dirty="0"/>
              <a:t>digital divide</a:t>
            </a:r>
            <a:r>
              <a:rPr lang="en-US" sz="1300" dirty="0"/>
              <a:t> between rich and poor nations</a:t>
            </a:r>
          </a:p>
          <a:p>
            <a:endParaRPr lang="en-US" sz="1300" b="1" dirty="0"/>
          </a:p>
        </p:txBody>
      </p:sp>
    </p:spTree>
    <p:extLst>
      <p:ext uri="{BB962C8B-B14F-4D97-AF65-F5344CB8AC3E}">
        <p14:creationId xmlns:p14="http://schemas.microsoft.com/office/powerpoint/2010/main" val="105636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71E57-4257-A33C-1631-82809B0D3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C8A97-9464-A143-6C5C-C1A11F1A01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r>
              <a:rPr lang="en-US" sz="1300" b="1"/>
              <a:t>LLM Training Requires Huge Infrastructure</a:t>
            </a:r>
            <a:endParaRPr lang="en-US" sz="1300"/>
          </a:p>
          <a:p>
            <a:pPr lvl="1"/>
            <a:r>
              <a:rPr lang="en-US" sz="1300"/>
              <a:t>Training LLMs demands thousands of GPUs and TPUs</a:t>
            </a:r>
          </a:p>
          <a:p>
            <a:pPr lvl="1"/>
            <a:r>
              <a:rPr lang="en-US" sz="1300"/>
              <a:t>Requires massive cloud platforms like AWS, Azure, and Google Cloud</a:t>
            </a:r>
          </a:p>
          <a:p>
            <a:pPr lvl="1"/>
            <a:r>
              <a:rPr lang="en-US" sz="1300"/>
              <a:t>Distributed computing systems are essential for large-scale training</a:t>
            </a:r>
          </a:p>
          <a:p>
            <a:pPr lvl="1"/>
            <a:r>
              <a:rPr lang="en-US" sz="1300"/>
              <a:t>No single machine can handle the full training process alone</a:t>
            </a:r>
          </a:p>
          <a:p>
            <a:r>
              <a:rPr lang="en-US" sz="1300" b="1"/>
              <a:t>Compute and Energy Are Major Costs</a:t>
            </a:r>
            <a:endParaRPr lang="en-US" sz="1300"/>
          </a:p>
          <a:p>
            <a:pPr lvl="1"/>
            <a:r>
              <a:rPr lang="en-US" sz="1300"/>
              <a:t>Training costs range from millions to over </a:t>
            </a:r>
            <a:r>
              <a:rPr lang="en-US" sz="1300" b="1"/>
              <a:t>$100 million</a:t>
            </a:r>
            <a:endParaRPr lang="en-US" sz="1300"/>
          </a:p>
          <a:p>
            <a:pPr lvl="1"/>
            <a:r>
              <a:rPr lang="en-US" sz="1300"/>
              <a:t>Energy consumption is one of the biggest ongoing expenses</a:t>
            </a:r>
          </a:p>
          <a:p>
            <a:pPr lvl="1"/>
            <a:r>
              <a:rPr lang="en-US" sz="1300"/>
              <a:t>GPT-4 alone cost an estimated </a:t>
            </a:r>
            <a:r>
              <a:rPr lang="en-US" sz="1300" b="1"/>
              <a:t>$100M+</a:t>
            </a:r>
            <a:r>
              <a:rPr lang="en-US" sz="1300"/>
              <a:t> to train</a:t>
            </a:r>
          </a:p>
          <a:p>
            <a:pPr lvl="1"/>
            <a:r>
              <a:rPr lang="en-US" sz="1300"/>
              <a:t>Inference costs add up daily with millions of users worldwide</a:t>
            </a:r>
          </a:p>
          <a:p>
            <a:endParaRPr lang="en-US" sz="13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8F1B2-C039-05F0-8274-47538883E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r>
              <a:rPr lang="en-US" sz="1100" b="1"/>
              <a:t>Better Hardware Improves Performance</a:t>
            </a:r>
            <a:endParaRPr lang="en-US" sz="1100"/>
          </a:p>
          <a:p>
            <a:pPr lvl="1"/>
            <a:r>
              <a:rPr lang="en-US" sz="1100"/>
              <a:t>Newer GPUs like NVIDIA H100 significantly speed up training</a:t>
            </a:r>
          </a:p>
          <a:p>
            <a:pPr lvl="1"/>
            <a:r>
              <a:rPr lang="en-US" sz="1100"/>
              <a:t>Improved chips reduce training time from months to weeks</a:t>
            </a:r>
          </a:p>
          <a:p>
            <a:pPr lvl="1"/>
            <a:r>
              <a:rPr lang="en-US" sz="1100"/>
              <a:t>Custom AI chips like Google TPUs and AWS Trainium boost efficiency</a:t>
            </a:r>
          </a:p>
          <a:p>
            <a:pPr lvl="1"/>
            <a:r>
              <a:rPr lang="en-US" sz="1100"/>
              <a:t>Hardware innovation directly drives LLM capability improvements</a:t>
            </a:r>
          </a:p>
          <a:p>
            <a:r>
              <a:rPr lang="en-US" sz="1100" b="1"/>
              <a:t>AI Development Needs Large Investments</a:t>
            </a:r>
            <a:endParaRPr lang="en-US" sz="1100"/>
          </a:p>
          <a:p>
            <a:pPr lvl="1"/>
            <a:r>
              <a:rPr lang="en-US" sz="1100"/>
              <a:t>Only well-funded companies can build frontier AI models</a:t>
            </a:r>
          </a:p>
          <a:p>
            <a:pPr lvl="1"/>
            <a:r>
              <a:rPr lang="en-US" sz="1100"/>
              <a:t>Billions of dollars invested annually by OpenAI, Google, and Meta</a:t>
            </a:r>
          </a:p>
          <a:p>
            <a:pPr lvl="1"/>
            <a:r>
              <a:rPr lang="en-US" sz="1100"/>
              <a:t>Government and private funding critical for AI research growth</a:t>
            </a:r>
          </a:p>
          <a:p>
            <a:pPr lvl="1"/>
            <a:r>
              <a:rPr lang="en-US" sz="1100"/>
              <a:t>Startups rely heavily on venture capital to compete in AI space</a:t>
            </a:r>
          </a:p>
          <a:p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880889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666</Words>
  <Application>Microsoft Office PowerPoint</Application>
  <PresentationFormat>Widescreen</PresentationFormat>
  <Paragraphs>116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Training Process and Resource Costs of Generative AI Large Language Models</vt:lpstr>
      <vt:lpstr>What is an LLM?</vt:lpstr>
      <vt:lpstr>LLM Training Process</vt:lpstr>
      <vt:lpstr>Resource required</vt:lpstr>
      <vt:lpstr>Cost of Training Popular Models</vt:lpstr>
      <vt:lpstr>Challenges &amp; Impact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Homesh OM</dc:creator>
  <cp:lastModifiedBy>Homesh OM</cp:lastModifiedBy>
  <cp:revision>4</cp:revision>
  <dcterms:created xsi:type="dcterms:W3CDTF">2026-05-28T02:19:35Z</dcterms:created>
  <dcterms:modified xsi:type="dcterms:W3CDTF">2026-05-29T00:37:12Z</dcterms:modified>
</cp:coreProperties>
</file>
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A4C7-45E4-BF57-7B6D-08136D5E3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5D62-940F-C5B3-9B8E-DA6376894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C23AA-6A71-B311-9137-483D3107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FB2DF-9FE2-B316-8639-0F5E75EA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9E0F7-7FF0-CC3C-1434-2A1D30B4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9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F12F-8C57-A331-5894-DB69609D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6C71F-7CEF-2AE8-3FC4-3D24C6EA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846B1-3A51-A212-9F87-E8FEFFD4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2700B-FBE0-7C51-7F88-08FB4F54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FD24C-8E5C-03CD-0AB7-1EAFC9FE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5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8E9D-22DF-EF43-2CBE-2A59F5C7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5714A-D0B7-9CD7-970B-23DF0D2F7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EB959-7C3E-4C28-E5DB-4BF9AB70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FF780-B5E7-969E-09A0-2975CB0D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6604-5C30-96C1-0A2A-9C6B9007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4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1A13-0F97-FE17-0782-000EAE97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996F-DFAE-A47A-F053-389502D99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033AD-82E9-24D4-9977-1860FD2A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42E40-D67E-64C1-3B1F-8ED25A39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71C02-73EB-CBC0-2C27-FE838E4F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3845C-0DEA-1A83-645B-DBBEF368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2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0D08-4F8A-65E7-2D25-09ECAB7D3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E52AC-898D-15B5-30BC-1B1EA94BE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BD44E-458F-C65C-0900-2C49724C8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8658B-074E-84AE-CDA4-DC53B2A9D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1B76C-5120-3A8D-0589-BC49F4065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904A9-448E-A8E7-9C61-E7E8CD43F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B8416-132A-8A7A-B607-3F8EF7AC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25BD3-7393-2A56-19C7-F582ADE9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2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611F-B787-1665-5935-288298CD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AB3A4-A65E-6685-E092-FB743DF7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75B0E-CA1A-3009-5EFC-6A5B59B0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82E51-176C-3A88-747B-2F71F173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2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15820-7B6D-6744-A3DF-DC8047BE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91C35-F8B6-815B-62D5-C9B6E91A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F245F-6207-2804-9CE1-D088DFFC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3DBC-E04F-FF6A-4351-C8E04F3D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F139F-3B73-2EC8-B9F5-B42981712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54EAE-9485-F6AC-A83B-8BE2855A4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C2CA8-A1D4-0B79-B4ED-0674649C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873C0-E562-DA3B-BD31-86292EC6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BF150-0FD8-B268-0970-04842F31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3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E45D-FEFE-2877-4113-0CF96280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DCF5E-88F0-A70D-5098-2A140272D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A75C2-FC66-619F-409D-612CEB5A8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C2752-049F-F226-BF62-40E088D5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60D1C-49FE-92BE-DD45-2A2891D7D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D12F4-F00D-8EDD-05D3-D992C1E5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8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1004-3D5F-5D00-CA2D-318211EC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49298-2601-CB9E-8F33-537FF4529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90D9-E5A0-247F-FC6B-8DE703AD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3902A-DD9A-E2DF-3BBA-892F47F1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0ACE2-9631-7ADB-494A-D26E9C70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5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B7DD4-0771-B549-ED86-A16336CF9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3C9B9-1223-9BA7-57A7-C1C1ED202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2C4C1-B8B6-5C3D-FB74-00D3149E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A9FB2-B91A-FDA5-E377-37463AF8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81927-D07F-CB8A-863A-9420EE4F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67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2A0AF-A9D6-8F3C-09D6-1C9B80D4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83E98-136D-F787-FAB5-27E1FB88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DC460-366E-DBBA-BD89-0E4BB7DDF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0B273-4F2E-4834-90E5-5FC00B82AC18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21C7B-4080-B7D6-1C2E-BA2941DC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CAB7C-D8EF-A271-E086-AC87D955C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A320E-DDA5-4AF1-8BB2-B8B698236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F7024-A9B7-E565-2E87-B0150582D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4000"/>
              <a:t>Pre-Trained Model Comparison: Trade-Offs in Size, Accuracy &amp; Speed</a:t>
            </a:r>
            <a:br>
              <a:rPr lang="en-US" sz="4000"/>
            </a:br>
            <a:r>
              <a:rPr lang="en-US" sz="4000"/>
              <a:t>A Decision Matrix Across NLP, Computer Vision &amp; Tabular Data Domains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A0EAC-5DCA-9BF6-EBC3-96F4679AD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 lnSpcReduction="10000"/>
          </a:bodyPr>
          <a:lstStyle/>
          <a:p>
            <a:r>
              <a:rPr lang="en-US" sz="700"/>
              <a:t>Homakesavadurgaprasad </a:t>
            </a:r>
          </a:p>
          <a:p>
            <a:r>
              <a:rPr lang="en-US" sz="700"/>
              <a:t>3SU2026 Model Development </a:t>
            </a:r>
          </a:p>
          <a:p>
            <a:r>
              <a:rPr lang="en-US" sz="700"/>
              <a:t>06/14/2026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40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7D464-35FA-9528-4161-A6194201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Introduction: Why Model Selection Matters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6C9C-6853-8F76-880B-1934DE9AC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 b="1"/>
              <a:t>Content:</a:t>
            </a:r>
            <a:endParaRPr lang="en-US" sz="2000"/>
          </a:p>
          <a:p>
            <a:pPr lvl="1"/>
            <a:r>
              <a:rPr lang="en-US" sz="2000"/>
              <a:t>AI applications depend on choosing the </a:t>
            </a:r>
            <a:r>
              <a:rPr lang="en-US" sz="2000" b="1"/>
              <a:t>right pre-trained model</a:t>
            </a:r>
            <a:endParaRPr lang="en-US" sz="2000"/>
          </a:p>
          <a:p>
            <a:pPr lvl="1"/>
            <a:r>
              <a:rPr lang="en-US" sz="2000"/>
              <a:t>Every model involves </a:t>
            </a:r>
            <a:r>
              <a:rPr lang="en-US" sz="2000" b="1"/>
              <a:t>trade-offs</a:t>
            </a:r>
            <a:r>
              <a:rPr lang="en-US" sz="2000"/>
              <a:t> between size, accuracy, and speed</a:t>
            </a:r>
          </a:p>
          <a:p>
            <a:pPr lvl="1"/>
            <a:r>
              <a:rPr lang="en-US" sz="2000" b="1"/>
              <a:t>Explainability</a:t>
            </a:r>
            <a:r>
              <a:rPr lang="en-US" sz="2000"/>
              <a:t> is critical for trust and real-world deployment</a:t>
            </a:r>
          </a:p>
          <a:p>
            <a:pPr lvl="1"/>
            <a:r>
              <a:rPr lang="en-US" sz="2000"/>
              <a:t>Poor model selection leads to </a:t>
            </a:r>
            <a:r>
              <a:rPr lang="en-US" sz="2000" b="1"/>
              <a:t>high costs, slow performance, or inaccurate results</a:t>
            </a:r>
            <a:endParaRPr lang="en-US" sz="2000"/>
          </a:p>
          <a:p>
            <a:pPr lvl="1"/>
            <a:r>
              <a:rPr lang="en-US" sz="2000"/>
              <a:t>This analysis helps make </a:t>
            </a:r>
            <a:r>
              <a:rPr lang="en-US" sz="2000" b="1"/>
              <a:t>informed, data-driven decisions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6619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0153F-653D-A0C8-C6CA-E7B44D74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Methodology: How We Selected &amp; Evaluated the 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40E9-48C7-6317-6634-24B345D8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1900" b="1"/>
              <a:t>Content:</a:t>
            </a:r>
            <a:endParaRPr lang="en-US" sz="1900"/>
          </a:p>
          <a:p>
            <a:r>
              <a:rPr lang="en-US" sz="1900"/>
              <a:t>Selected </a:t>
            </a:r>
            <a:r>
              <a:rPr lang="en-US" sz="1900" b="1"/>
              <a:t>7 popular pre-trained models</a:t>
            </a:r>
            <a:r>
              <a:rPr lang="en-US" sz="1900"/>
              <a:t> across 3 domains</a:t>
            </a:r>
          </a:p>
          <a:p>
            <a:r>
              <a:rPr lang="en-US" sz="1900"/>
              <a:t>Evaluated each model on: </a:t>
            </a:r>
          </a:p>
          <a:p>
            <a:pPr lvl="1"/>
            <a:r>
              <a:rPr lang="en-US" sz="1900"/>
              <a:t>📦 </a:t>
            </a:r>
            <a:r>
              <a:rPr lang="en-US" sz="1900" b="1"/>
              <a:t>Model Size</a:t>
            </a:r>
            <a:r>
              <a:rPr lang="en-US" sz="1900"/>
              <a:t> – Parameters &amp; memory footprint</a:t>
            </a:r>
          </a:p>
          <a:p>
            <a:pPr lvl="1"/>
            <a:r>
              <a:rPr lang="en-US" sz="1900"/>
              <a:t>🎯 </a:t>
            </a:r>
            <a:r>
              <a:rPr lang="en-US" sz="1900" b="1"/>
              <a:t>Accuracy</a:t>
            </a:r>
            <a:r>
              <a:rPr lang="en-US" sz="1900"/>
              <a:t> – Benchmark performance scores</a:t>
            </a:r>
          </a:p>
          <a:p>
            <a:pPr lvl="1"/>
            <a:r>
              <a:rPr lang="en-US" sz="1900"/>
              <a:t>⚡ </a:t>
            </a:r>
            <a:r>
              <a:rPr lang="en-US" sz="1900" b="1"/>
              <a:t>Speed</a:t>
            </a:r>
            <a:r>
              <a:rPr lang="en-US" sz="1900"/>
              <a:t> – Inference latency &amp; throughput</a:t>
            </a:r>
          </a:p>
          <a:p>
            <a:r>
              <a:rPr lang="en-US" sz="1900"/>
              <a:t>Sources: Research papers, official documentation, benchmark leaderboards</a:t>
            </a:r>
          </a:p>
          <a:p>
            <a:r>
              <a:rPr lang="en-US" sz="1900"/>
              <a:t>Domains covered: </a:t>
            </a:r>
          </a:p>
          <a:p>
            <a:pPr lvl="1"/>
            <a:r>
              <a:rPr lang="en-US" sz="1900"/>
              <a:t>🟦 NLP/Generative AI</a:t>
            </a:r>
          </a:p>
          <a:p>
            <a:pPr lvl="1"/>
            <a:r>
              <a:rPr lang="en-US" sz="1900"/>
              <a:t>🟩 Computer Vision</a:t>
            </a:r>
          </a:p>
          <a:p>
            <a:pPr lvl="1"/>
            <a:r>
              <a:rPr lang="en-US" sz="1900"/>
              <a:t>🟨 Tabular Data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81362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4BD83-AF58-0ED7-D33F-7A58CE06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Decision Matrix: Model Comparison Decision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A54A-F082-3732-506B-2C2732E59B7E}"/>
              </a:ext>
            </a:extLst>
          </p:cNvPr>
          <p:cNvSpPr txBox="1"/>
          <p:nvPr/>
        </p:nvSpPr>
        <p:spPr>
          <a:xfrm>
            <a:off x="477981" y="4872922"/>
            <a:ext cx="3933306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🟢 = Good    🟡 = Moderate    🔴 = Poor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A549EF-FCB9-270F-5A02-BCFC61E4C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029961"/>
              </p:ext>
            </p:extLst>
          </p:nvPr>
        </p:nvGraphicFramePr>
        <p:xfrm>
          <a:off x="5414356" y="1394360"/>
          <a:ext cx="6408840" cy="3918030"/>
        </p:xfrm>
        <a:graphic>
          <a:graphicData uri="http://schemas.openxmlformats.org/drawingml/2006/table">
            <a:tbl>
              <a:tblPr/>
              <a:tblGrid>
                <a:gridCol w="1194721">
                  <a:extLst>
                    <a:ext uri="{9D8B030D-6E8A-4147-A177-3AD203B41FA5}">
                      <a16:colId xmlns:a16="http://schemas.microsoft.com/office/drawing/2014/main" val="749894335"/>
                    </a:ext>
                  </a:extLst>
                </a:gridCol>
                <a:gridCol w="887858">
                  <a:extLst>
                    <a:ext uri="{9D8B030D-6E8A-4147-A177-3AD203B41FA5}">
                      <a16:colId xmlns:a16="http://schemas.microsoft.com/office/drawing/2014/main" val="3915680208"/>
                    </a:ext>
                  </a:extLst>
                </a:gridCol>
                <a:gridCol w="936444">
                  <a:extLst>
                    <a:ext uri="{9D8B030D-6E8A-4147-A177-3AD203B41FA5}">
                      <a16:colId xmlns:a16="http://schemas.microsoft.com/office/drawing/2014/main" val="844051260"/>
                    </a:ext>
                  </a:extLst>
                </a:gridCol>
                <a:gridCol w="1031061">
                  <a:extLst>
                    <a:ext uri="{9D8B030D-6E8A-4147-A177-3AD203B41FA5}">
                      <a16:colId xmlns:a16="http://schemas.microsoft.com/office/drawing/2014/main" val="3810571505"/>
                    </a:ext>
                  </a:extLst>
                </a:gridCol>
                <a:gridCol w="1031061">
                  <a:extLst>
                    <a:ext uri="{9D8B030D-6E8A-4147-A177-3AD203B41FA5}">
                      <a16:colId xmlns:a16="http://schemas.microsoft.com/office/drawing/2014/main" val="3647697119"/>
                    </a:ext>
                  </a:extLst>
                </a:gridCol>
                <a:gridCol w="1327695">
                  <a:extLst>
                    <a:ext uri="{9D8B030D-6E8A-4147-A177-3AD203B41FA5}">
                      <a16:colId xmlns:a16="http://schemas.microsoft.com/office/drawing/2014/main" val="3602314735"/>
                    </a:ext>
                  </a:extLst>
                </a:gridCol>
              </a:tblGrid>
              <a:tr h="324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Model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Domain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Size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Accuracy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Speed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Explainability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879763"/>
                  </a:ext>
                </a:extLst>
              </a:tr>
              <a:tr h="54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GPT-4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NLP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🔴 Very Large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Very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🔴 Slow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🔴 Low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29282"/>
                  </a:ext>
                </a:extLst>
              </a:tr>
              <a:tr h="54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BERT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NLP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Medium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Moderate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Medium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900391"/>
                  </a:ext>
                </a:extLst>
              </a:tr>
              <a:tr h="54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MobileNet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Vision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Small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Moderate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Fast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Medium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704680"/>
                  </a:ext>
                </a:extLst>
              </a:tr>
              <a:tr h="54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EfficientNet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Vision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Medium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Moderate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Medium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377635"/>
                  </a:ext>
                </a:extLst>
              </a:tr>
              <a:tr h="324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LightGBM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Tabular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Small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Fast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11182"/>
                  </a:ext>
                </a:extLst>
              </a:tr>
              <a:tr h="54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XGBoost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Tabular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Small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Moderate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52762"/>
                  </a:ext>
                </a:extLst>
              </a:tr>
              <a:tr h="544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Random Forest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Tabular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Medium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Moderate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🟡 Moderate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🟢 Very High</a:t>
                      </a:r>
                    </a:p>
                  </a:txBody>
                  <a:tcPr marL="73647" marR="73647" marT="36824" marB="36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00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47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0C36E-DC50-6CC6-3EE0-5A4598CB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Model Profiles: NLP/Generative AI, </a:t>
            </a:r>
            <a:br>
              <a:rPr lang="en-US" sz="4000"/>
            </a:br>
            <a:r>
              <a:rPr lang="en-US" sz="4000"/>
              <a:t>NLP Models — GPT-4 &amp; BERT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6C4E6-65ED-08FA-115E-28BE79088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932688"/>
            <a:ext cx="6976871" cy="4992624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GPT-4: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Extremely powerful for text generation &amp; reasoning</a:t>
            </a:r>
          </a:p>
          <a:p>
            <a:pPr marL="0" indent="0">
              <a:buNone/>
            </a:pPr>
            <a:r>
              <a:rPr lang="en-US" sz="1700" dirty="0"/>
              <a:t>	🔹 Very large model — high computational cost</a:t>
            </a:r>
          </a:p>
          <a:p>
            <a:pPr marL="0" indent="0">
              <a:buNone/>
            </a:pPr>
            <a:r>
              <a:rPr lang="en-US" sz="1700" dirty="0"/>
              <a:t>	🔹 Best for: Chatbots, content generation, summarization</a:t>
            </a:r>
          </a:p>
          <a:p>
            <a:pPr marL="0" indent="0">
              <a:buNone/>
            </a:pPr>
            <a:r>
              <a:rPr lang="en-US" sz="1700" dirty="0"/>
              <a:t>	⚠️ Not ideal for real-time or resource-limited apps</a:t>
            </a:r>
          </a:p>
          <a:p>
            <a:r>
              <a:rPr lang="en-US" sz="1700" b="1" dirty="0"/>
              <a:t>BERT: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Strong at understanding context &amp; classification</a:t>
            </a:r>
          </a:p>
          <a:p>
            <a:pPr marL="0" indent="0">
              <a:buNone/>
            </a:pPr>
            <a:r>
              <a:rPr lang="en-US" sz="1700" dirty="0"/>
              <a:t>	🔹 Medium size — more practical than GPT-4</a:t>
            </a:r>
          </a:p>
          <a:p>
            <a:pPr marL="0" indent="0">
              <a:buNone/>
            </a:pPr>
            <a:r>
              <a:rPr lang="en-US" sz="1700" dirty="0"/>
              <a:t>	🔹 Best for: Sentiment analysis, Q&amp;A, text classification</a:t>
            </a:r>
          </a:p>
          <a:p>
            <a:pPr marL="0" indent="0">
              <a:buNone/>
            </a:pPr>
            <a:r>
              <a:rPr lang="en-US" sz="1700" dirty="0"/>
              <a:t>	⚠️ Not designed for text generation tasks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7136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0DD12-3505-3DA3-3DE7-4CF093B3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Model Profiles: Computer Vision</a:t>
            </a:r>
            <a:br>
              <a:rPr lang="en-US" sz="4000"/>
            </a:br>
            <a:r>
              <a:rPr lang="en-US" sz="4000"/>
              <a:t>Vision Models — MobileNet &amp; EfficientNet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A5FDD-9660-759C-116B-018B8F79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305" y="932688"/>
            <a:ext cx="6632448" cy="4992624"/>
          </a:xfrm>
        </p:spPr>
        <p:txBody>
          <a:bodyPr anchor="ctr">
            <a:normAutofit/>
          </a:bodyPr>
          <a:lstStyle/>
          <a:p>
            <a:r>
              <a:rPr lang="en-US" sz="1700" b="1" dirty="0" err="1"/>
              <a:t>MobileNet</a:t>
            </a:r>
            <a:r>
              <a:rPr lang="en-US" sz="1700" b="1" dirty="0"/>
              <a:t>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Lightweight &amp; optimized for mobile/edge devices</a:t>
            </a:r>
          </a:p>
          <a:p>
            <a:pPr marL="0" indent="0">
              <a:buNone/>
            </a:pPr>
            <a:r>
              <a:rPr lang="en-US" sz="1700" dirty="0"/>
              <a:t>	🔹 Fast inference speed with acceptable accuracy</a:t>
            </a:r>
          </a:p>
          <a:p>
            <a:pPr marL="457200" lvl="1" indent="0">
              <a:buNone/>
            </a:pPr>
            <a:r>
              <a:rPr lang="en-US" sz="1700" dirty="0"/>
              <a:t>	🔹 Best for: Mobile apps, real-time detection, IoT devices</a:t>
            </a:r>
          </a:p>
          <a:p>
            <a:pPr marL="0" indent="0">
              <a:buNone/>
            </a:pPr>
            <a:r>
              <a:rPr lang="en-US" sz="1700" dirty="0"/>
              <a:t>	⚠️ Lower accuracy compared to larger models</a:t>
            </a:r>
          </a:p>
          <a:p>
            <a:r>
              <a:rPr lang="en-US" sz="1700" b="1" dirty="0" err="1"/>
              <a:t>EfficientNet</a:t>
            </a:r>
            <a:r>
              <a:rPr lang="en-US" sz="1700" b="1" dirty="0"/>
              <a:t>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Excellent balance of size and accuracy</a:t>
            </a:r>
          </a:p>
          <a:p>
            <a:pPr marL="0" indent="0">
              <a:buNone/>
            </a:pPr>
            <a:r>
              <a:rPr lang="en-US" sz="1700" dirty="0"/>
              <a:t>	🔹 Scales efficiently across different resource levels</a:t>
            </a:r>
          </a:p>
          <a:p>
            <a:pPr marL="0" indent="0">
              <a:buNone/>
            </a:pPr>
            <a:r>
              <a:rPr lang="en-US" sz="1700" dirty="0"/>
              <a:t>	🔹 Best for: Image classification, medical imaging, retail</a:t>
            </a:r>
          </a:p>
          <a:p>
            <a:pPr marL="0" indent="0">
              <a:buNone/>
            </a:pPr>
            <a:r>
              <a:rPr lang="en-US" sz="1700" dirty="0"/>
              <a:t>	⚠️ Slightly slower than </a:t>
            </a:r>
            <a:r>
              <a:rPr lang="en-US" sz="1700" dirty="0" err="1"/>
              <a:t>MobileNet</a:t>
            </a:r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57248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B9359-BF43-85B9-6B0C-A92F7DB9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Model Profiles: Tabular Data</a:t>
            </a:r>
            <a:br>
              <a:rPr lang="en-US" sz="4000"/>
            </a:br>
            <a:r>
              <a:rPr lang="en-US" sz="4000"/>
              <a:t>Tabular Models — LightGBM, XGBoost &amp; Random Forest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1AA7-1FDB-77FB-DF43-E84AE7758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7489" y="932688"/>
            <a:ext cx="6303264" cy="4992624"/>
          </a:xfrm>
        </p:spPr>
        <p:txBody>
          <a:bodyPr anchor="ctr">
            <a:normAutofit/>
          </a:bodyPr>
          <a:lstStyle/>
          <a:p>
            <a:r>
              <a:rPr lang="en-US" sz="1700" b="1" dirty="0" err="1"/>
              <a:t>LightGBM</a:t>
            </a:r>
            <a:r>
              <a:rPr lang="en-US" sz="1700" b="1" dirty="0"/>
              <a:t>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Very fast training &amp; inference</a:t>
            </a:r>
          </a:p>
          <a:p>
            <a:pPr marL="0" indent="0">
              <a:buNone/>
            </a:pPr>
            <a:r>
              <a:rPr lang="en-US" sz="1700" dirty="0"/>
              <a:t>	🔹 Handles large datasets efficiently</a:t>
            </a:r>
          </a:p>
          <a:p>
            <a:pPr marL="0" indent="0">
              <a:buNone/>
            </a:pPr>
            <a:r>
              <a:rPr lang="en-US" sz="1700" dirty="0"/>
              <a:t>	🔹 Best for: Financial predictions, fraud detection</a:t>
            </a:r>
          </a:p>
          <a:p>
            <a:r>
              <a:rPr lang="en-US" sz="1700" b="1" dirty="0" err="1"/>
              <a:t>XGBoost</a:t>
            </a:r>
            <a:r>
              <a:rPr lang="en-US" sz="1700" b="1" dirty="0"/>
              <a:t>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High accuracy with good speed</a:t>
            </a:r>
          </a:p>
          <a:p>
            <a:pPr marL="0" indent="0">
              <a:buNone/>
            </a:pPr>
            <a:r>
              <a:rPr lang="en-US" sz="1700" dirty="0"/>
              <a:t>	🔹 Industry standard for structured data</a:t>
            </a:r>
          </a:p>
          <a:p>
            <a:pPr marL="0" indent="0">
              <a:buNone/>
            </a:pPr>
            <a:r>
              <a:rPr lang="en-US" sz="1700" dirty="0"/>
              <a:t>	🔹 Best for: Risk modeling, sales forecasting</a:t>
            </a:r>
          </a:p>
          <a:p>
            <a:r>
              <a:rPr lang="en-US" sz="1700" b="1" dirty="0"/>
              <a:t>Random Forest: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	🔹 Highest explainability among all models</a:t>
            </a:r>
          </a:p>
          <a:p>
            <a:pPr marL="0" indent="0">
              <a:buNone/>
            </a:pPr>
            <a:r>
              <a:rPr lang="en-US" sz="1700" dirty="0"/>
              <a:t>	🔹 Easy to interpret feature importance</a:t>
            </a:r>
          </a:p>
          <a:p>
            <a:pPr marL="0" indent="0">
              <a:buNone/>
            </a:pPr>
            <a:r>
              <a:rPr lang="en-US" sz="1700" dirty="0"/>
              <a:t>	🔹 Best for: Healthcare, legal, compliance use cases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17800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20E72-CA95-C729-93FA-B1C22463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3400"/>
              <a:t>Analysis &amp; Recommendations</a:t>
            </a:r>
            <a:br>
              <a:rPr lang="en-US" sz="3400"/>
            </a:br>
            <a:r>
              <a:rPr lang="en-US" sz="3400"/>
              <a:t>When to Use Which Model?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CD1E34-AC2F-51F8-FFBD-B802D613E2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267582"/>
              </p:ext>
            </p:extLst>
          </p:nvPr>
        </p:nvGraphicFramePr>
        <p:xfrm>
          <a:off x="5303520" y="859931"/>
          <a:ext cx="6364224" cy="5147286"/>
        </p:xfrm>
        <a:graphic>
          <a:graphicData uri="http://schemas.openxmlformats.org/drawingml/2006/table">
            <a:tbl>
              <a:tblPr/>
              <a:tblGrid>
                <a:gridCol w="3665879">
                  <a:extLst>
                    <a:ext uri="{9D8B030D-6E8A-4147-A177-3AD203B41FA5}">
                      <a16:colId xmlns:a16="http://schemas.microsoft.com/office/drawing/2014/main" val="890964165"/>
                    </a:ext>
                  </a:extLst>
                </a:gridCol>
                <a:gridCol w="2698345">
                  <a:extLst>
                    <a:ext uri="{9D8B030D-6E8A-4147-A177-3AD203B41FA5}">
                      <a16:colId xmlns:a16="http://schemas.microsoft.com/office/drawing/2014/main" val="2434297105"/>
                    </a:ext>
                  </a:extLst>
                </a:gridCol>
              </a:tblGrid>
              <a:tr h="425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Scenario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Recommended Model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134703"/>
                  </a:ext>
                </a:extLst>
              </a:tr>
              <a:tr h="71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Mobile app with real-time image detection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MobileNet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64262"/>
                  </a:ext>
                </a:extLst>
              </a:tr>
              <a:tr h="71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High-accuracy image classification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EfficientNet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494802"/>
                  </a:ext>
                </a:extLst>
              </a:tr>
              <a:tr h="425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Chatbot or content generation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GPT-4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5288"/>
                  </a:ext>
                </a:extLst>
              </a:tr>
              <a:tr h="71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Text classification or sentiment analysis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BERT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88651"/>
                  </a:ext>
                </a:extLst>
              </a:tr>
              <a:tr h="71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Fast prediction on large datasets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LightGBM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341169"/>
                  </a:ext>
                </a:extLst>
              </a:tr>
              <a:tr h="71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Explainable AI for healthcare/legal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Random Forest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916288"/>
                  </a:ext>
                </a:extLst>
              </a:tr>
              <a:tr h="715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Balanced accuracy &amp; speed on tabular data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✅ XGBoost</a:t>
                      </a:r>
                    </a:p>
                  </a:txBody>
                  <a:tcPr marL="96753" marR="96753" marT="48377" marB="483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753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15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D258FA-3407-54B1-3AAC-3FCDF50D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br>
              <a:rPr lang="en-US" sz="3600">
                <a:solidFill>
                  <a:schemeClr val="tx2"/>
                </a:solidFill>
              </a:rPr>
            </a:br>
            <a:r>
              <a:rPr lang="en-US" sz="3600">
                <a:solidFill>
                  <a:schemeClr val="tx2"/>
                </a:solidFill>
              </a:rPr>
              <a:t>Conclusion</a:t>
            </a:r>
            <a:br>
              <a:rPr lang="en-US" sz="3600">
                <a:solidFill>
                  <a:schemeClr val="tx2"/>
                </a:solidFill>
              </a:rPr>
            </a:br>
            <a:r>
              <a:rPr lang="en-US" sz="3600">
                <a:solidFill>
                  <a:schemeClr val="tx2"/>
                </a:solidFill>
              </a:rPr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128A08-3AA2-9FB3-C686-23CFD7B7D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 single model fits all use cases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— trade-offs always exist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Tabular models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(LightGBM, XGBoost) offer the best speed &amp; explainability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Vision models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balance size vs. accuracy depending on deployment needs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NLP models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are powerful but require more compute resources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should be a priority in sensitive domains like healthcare &amp; finance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✅ Always align model selection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business goals, resources &amp; constraints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726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F83778-84B2-806B-6CF8-B56F0374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Sources &amp; 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5E9329-7EAE-2DDA-95C1-7FE7E29CD6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OpenAI GPT-4 Technical Report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Google Research — BERT Paper (Devlin et al., 2018)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MobileNet — Howard et al., Google AI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EfficientNet — Tan &amp; Le, Google Brain (2019)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LightGBM — Microsoft Research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XGBoost — Chen &amp; Guestrin (2016)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Random Forest — Breiman (2001) </a:t>
            </a:r>
          </a:p>
        </p:txBody>
      </p:sp>
    </p:spTree>
    <p:extLst>
      <p:ext uri="{BB962C8B-B14F-4D97-AF65-F5344CB8AC3E}">
        <p14:creationId xmlns:p14="http://schemas.microsoft.com/office/powerpoint/2010/main" val="2611278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731</Words>
  <Application>Microsoft Office PowerPoint</Application>
  <PresentationFormat>Widescreen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Office Theme</vt:lpstr>
      <vt:lpstr>Pre-Trained Model Comparison: Trade-Offs in Size, Accuracy &amp; Speed A Decision Matrix Across NLP, Computer Vision &amp; Tabular Data Domains</vt:lpstr>
      <vt:lpstr>Introduction: Why Model Selection Matters</vt:lpstr>
      <vt:lpstr>Methodology: How We Selected &amp; Evaluated the Models</vt:lpstr>
      <vt:lpstr>Decision Matrix: Model Comparison Decision Matrix</vt:lpstr>
      <vt:lpstr>Model Profiles: NLP/Generative AI,  NLP Models — GPT-4 &amp; BERT</vt:lpstr>
      <vt:lpstr>Model Profiles: Computer Vision Vision Models — MobileNet &amp; EfficientNet</vt:lpstr>
      <vt:lpstr>Model Profiles: Tabular Data Tabular Models — LightGBM, XGBoost &amp; Random Forest</vt:lpstr>
      <vt:lpstr>Analysis &amp; Recommendations When to Use Which Model?</vt:lpstr>
      <vt:lpstr> Conclusion Key Takeaways</vt:lpstr>
      <vt:lpstr>Sources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Homesh OM</dc:creator>
  <cp:lastModifiedBy>Homesh OM</cp:lastModifiedBy>
  <cp:revision>6</cp:revision>
  <dcterms:created xsi:type="dcterms:W3CDTF">2026-06-14T13:53:20Z</dcterms:created>
  <dcterms:modified xsi:type="dcterms:W3CDTF">2026-06-14T14:24:00Z</dcterms:modified>
</cp:coreProperties>
</file>